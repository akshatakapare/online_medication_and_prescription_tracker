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9" r:id="rId5"/>
    <p:sldId id="258" r:id="rId6"/>
    <p:sldId id="275" r:id="rId7"/>
    <p:sldId id="260" r:id="rId8"/>
    <p:sldId id="264" r:id="rId9"/>
    <p:sldId id="274" r:id="rId10"/>
    <p:sldId id="276" r:id="rId11"/>
    <p:sldId id="261" r:id="rId12"/>
    <p:sldId id="262" r:id="rId13"/>
    <p:sldId id="277" r:id="rId14"/>
    <p:sldId id="266" r:id="rId15"/>
    <p:sldId id="268" r:id="rId16"/>
    <p:sldId id="269" r:id="rId17"/>
    <p:sldId id="270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DD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73" d="100"/>
          <a:sy n="73" d="100"/>
        </p:scale>
        <p:origin x="36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518D1-ED0C-4CBD-B2DB-8C729FE8B2BC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3025B-1BDD-4DCB-A4A9-7F69014BE1E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518D1-ED0C-4CBD-B2DB-8C729FE8B2BC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3025B-1BDD-4DCB-A4A9-7F69014BE1E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518D1-ED0C-4CBD-B2DB-8C729FE8B2BC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3025B-1BDD-4DCB-A4A9-7F69014BE1E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518D1-ED0C-4CBD-B2DB-8C729FE8B2BC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3025B-1BDD-4DCB-A4A9-7F69014BE1E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518D1-ED0C-4CBD-B2DB-8C729FE8B2BC}" type="datetimeFigureOut">
              <a:rPr lang="en-IN" smtClean="0"/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3025B-1BDD-4DCB-A4A9-7F69014BE1E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518D1-ED0C-4CBD-B2DB-8C729FE8B2BC}" type="datetimeFigureOut">
              <a:rPr lang="en-IN" smtClean="0"/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3025B-1BDD-4DCB-A4A9-7F69014BE1E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518D1-ED0C-4CBD-B2DB-8C729FE8B2BC}" type="datetimeFigureOut">
              <a:rPr lang="en-IN" smtClean="0"/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3025B-1BDD-4DCB-A4A9-7F69014BE1E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518D1-ED0C-4CBD-B2DB-8C729FE8B2BC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3025B-1BDD-4DCB-A4A9-7F69014BE1E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518D1-ED0C-4CBD-B2DB-8C729FE8B2BC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3025B-1BDD-4DCB-A4A9-7F69014BE1E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518D1-ED0C-4CBD-B2DB-8C729FE8B2BC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3025B-1BDD-4DCB-A4A9-7F69014BE1E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518D1-ED0C-4CBD-B2DB-8C729FE8B2BC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3025B-1BDD-4DCB-A4A9-7F69014BE1E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microsoft.com/office/2007/relationships/hdphoto" Target="../media/image2.wdp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colorTemperature colorTemp="5200"/>
                    </a14:imgEffect>
                    <a14:imgEffect>
                      <a14:saturation sat="91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E518D1-ED0C-4CBD-B2DB-8C729FE8B2BC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63025B-1BDD-4DCB-A4A9-7F69014BE1EE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jpeg"/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3.jpeg"/><Relationship Id="rId4" Type="http://schemas.openxmlformats.org/officeDocument/2006/relationships/image" Target="../media/image12.jpeg"/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image" Target="../media/image9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jpe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.jpe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jpe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9.jpe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WhatsApp Image 2026-03-23 at 6.14.51 PM"/>
          <p:cNvPicPr>
            <a:picLocks noChangeAspect="1"/>
          </p:cNvPicPr>
          <p:nvPr/>
        </p:nvPicPr>
        <p:blipFill>
          <a:blip r:embed="rId1">
            <a:alphaModFix amt="20000"/>
            <a:clrChange>
              <a:clrFrom>
                <a:srgbClr val="EBF5FF">
                  <a:alpha val="100000"/>
                </a:srgbClr>
              </a:clrFrom>
              <a:clrTo>
                <a:srgbClr val="EBF5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670560" y="-144780"/>
            <a:ext cx="5030470" cy="4525010"/>
          </a:xfrm>
          <a:prstGeom prst="rect">
            <a:avLst/>
          </a:prstGeom>
        </p:spPr>
      </p:pic>
      <p:pic>
        <p:nvPicPr>
          <p:cNvPr id="4" name="Picture 3" descr="WhatsApp Image 2026-03-23 at 6.14.55 PM"/>
          <p:cNvPicPr>
            <a:picLocks noChangeAspect="1"/>
          </p:cNvPicPr>
          <p:nvPr/>
        </p:nvPicPr>
        <p:blipFill>
          <a:blip r:embed="rId2">
            <a:alphaModFix amt="20000"/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872095" y="3773805"/>
            <a:ext cx="4319905" cy="3667760"/>
          </a:xfrm>
          <a:prstGeom prst="rect">
            <a:avLst/>
          </a:prstGeom>
        </p:spPr>
      </p:pic>
      <p:pic>
        <p:nvPicPr>
          <p:cNvPr id="3" name="Picture 2" descr="WhatsApp Image 2026-03-23 at 6.14.47 PM"/>
          <p:cNvPicPr>
            <a:picLocks noChangeAspect="1"/>
          </p:cNvPicPr>
          <p:nvPr/>
        </p:nvPicPr>
        <p:blipFill>
          <a:blip r:embed="rId3">
            <a:alphaModFix amt="20000"/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790575" y="3924300"/>
            <a:ext cx="5150485" cy="336677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02015" y="1862504"/>
            <a:ext cx="9387155" cy="3133618"/>
          </a:xfrm>
        </p:spPr>
        <p:txBody>
          <a:bodyPr/>
          <a:lstStyle/>
          <a:p>
            <a:r>
              <a:rPr lang="en-IN" altLang="en-US" b="1" dirty="0">
                <a:solidFill>
                  <a:schemeClr val="accent1">
                    <a:lumMod val="75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Prescripto -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Online Medication and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rescription Tracker</a:t>
            </a:r>
            <a:endParaRPr lang="en-IN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 descr="WhatsApp Image 2026-03-23 at 6.14.52 PM"/>
          <p:cNvPicPr>
            <a:picLocks noChangeAspect="1"/>
          </p:cNvPicPr>
          <p:nvPr/>
        </p:nvPicPr>
        <p:blipFill>
          <a:blip r:embed="rId4">
            <a:alphaModFix amt="20000"/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05800" y="-869315"/>
            <a:ext cx="4127500" cy="45440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91845" y="1471930"/>
            <a:ext cx="6263005" cy="618490"/>
          </a:xfrm>
        </p:spPr>
        <p:txBody>
          <a:bodyPr/>
          <a:lstStyle/>
          <a:p>
            <a:pPr algn="l"/>
            <a:r>
              <a:rPr lang="en-IN" sz="3600" b="1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TEAM MEMBERS</a:t>
            </a:r>
            <a:endParaRPr lang="en-IN" sz="3600" b="1" dirty="0">
              <a:solidFill>
                <a:schemeClr val="accent4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95236" y="3603749"/>
            <a:ext cx="9486472" cy="1980344"/>
          </a:xfrm>
        </p:spPr>
        <p:txBody>
          <a:bodyPr>
            <a:normAutofit/>
          </a:bodyPr>
          <a:lstStyle/>
          <a:p>
            <a:pPr algn="l"/>
            <a:r>
              <a:rPr lang="en-IN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</a:t>
            </a:r>
            <a:endParaRPr lang="en-IN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en-IN" dirty="0"/>
          </a:p>
        </p:txBody>
      </p:sp>
      <p:graphicFrame>
        <p:nvGraphicFramePr>
          <p:cNvPr id="4" name="Table 3"/>
          <p:cNvGraphicFramePr/>
          <p:nvPr>
            <p:custDataLst>
              <p:tags r:id="rId1"/>
            </p:custDataLst>
          </p:nvPr>
        </p:nvGraphicFramePr>
        <p:xfrm>
          <a:off x="965835" y="2773045"/>
          <a:ext cx="7800340" cy="19843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0170"/>
                <a:gridCol w="3900170"/>
              </a:tblGrid>
              <a:tr h="396875">
                <a:tc>
                  <a:txBody>
                    <a:bodyPr/>
                    <a:p>
                      <a:pPr>
                        <a:buNone/>
                      </a:pPr>
                      <a:r>
                        <a:rPr lang="en-IN" altLang="en-GB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NAME</a:t>
                      </a:r>
                      <a:endParaRPr lang="en-IN" altLang="en-GB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IN" altLang="en-GB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ROLE</a:t>
                      </a:r>
                      <a:endParaRPr lang="en-IN" altLang="en-GB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</a:tr>
              <a:tr h="396875">
                <a:tc>
                  <a:txBody>
                    <a:bodyPr/>
                    <a:p>
                      <a:pPr>
                        <a:buNone/>
                      </a:pPr>
                      <a:r>
                        <a:rPr lang="en-IN" altLang="en-GB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 KHUSHI</a:t>
                      </a:r>
                      <a:endParaRPr lang="en-IN" altLang="en-GB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IN" altLang="en-GB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</a:t>
                      </a:r>
                      <a:endParaRPr lang="en-IN" altLang="en-GB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</a:tr>
              <a:tr h="396875">
                <a:tc>
                  <a:txBody>
                    <a:bodyPr/>
                    <a:p>
                      <a:pPr>
                        <a:buNone/>
                      </a:pPr>
                      <a:r>
                        <a:rPr lang="en-IN" altLang="en-GB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2.SHREYA</a:t>
                      </a:r>
                      <a:endParaRPr lang="en-IN" altLang="en-GB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IN" altLang="en-GB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</a:t>
                      </a:r>
                      <a:endParaRPr lang="en-IN" altLang="en-GB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</a:tr>
              <a:tr h="396875">
                <a:tc>
                  <a:txBody>
                    <a:bodyPr/>
                    <a:p>
                      <a:pPr>
                        <a:buNone/>
                      </a:pPr>
                      <a:r>
                        <a:rPr lang="en-IN" altLang="en-GB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3.PRIYANSH</a:t>
                      </a:r>
                      <a:endParaRPr lang="en-IN" altLang="en-GB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IN" altLang="en-GB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BACKEND</a:t>
                      </a:r>
                      <a:endParaRPr lang="en-IN" altLang="en-GB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</a:tr>
              <a:tr h="396875">
                <a:tc>
                  <a:txBody>
                    <a:bodyPr/>
                    <a:p>
                      <a:pPr>
                        <a:buNone/>
                      </a:pPr>
                      <a:r>
                        <a:rPr lang="en-IN" altLang="en-GB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4.AKSHATA</a:t>
                      </a:r>
                      <a:endParaRPr lang="en-IN" altLang="en-GB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IN" altLang="en-GB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BACKEND</a:t>
                      </a:r>
                      <a:endParaRPr lang="en-IN" altLang="en-GB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3910" y="1056005"/>
            <a:ext cx="10323195" cy="1325880"/>
          </a:xfrm>
        </p:spPr>
        <p:txBody>
          <a:bodyPr/>
          <a:lstStyle/>
          <a:p>
            <a:r>
              <a:rPr lang="en-IN" sz="36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IN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04545" y="2065655"/>
            <a:ext cx="10322560" cy="4048760"/>
          </a:xfrm>
        </p:spPr>
        <p:txBody>
          <a:bodyPr>
            <a:normAutofit/>
          </a:bodyPr>
          <a:lstStyle/>
          <a:p>
            <a:pPr algn="just">
              <a:buFont typeface="Wingdings" panose="05000000000000000000" charset="0"/>
              <a:buChar char="Ø"/>
            </a:pPr>
            <a:endParaRPr lang="en-I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charset="0"/>
              <a:buChar char="Ø"/>
            </a:pP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healthcare systems rely on manual prescriptions and paper records</a:t>
            </a:r>
            <a:endParaRPr lang="en-I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charset="0"/>
              <a:buChar char="Ø"/>
            </a:pP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Patients often struggle with managing medications and schedules</a:t>
            </a:r>
            <a:endParaRPr lang="en-I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charset="0"/>
              <a:buChar char="Ø"/>
            </a:pP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risk of missed doses, errors, and lost prescriptions</a:t>
            </a:r>
            <a:endParaRPr lang="en-I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charset="0"/>
              <a:buChar char="Ø"/>
            </a:pP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Lack of efficient communication between doctors and patients</a:t>
            </a:r>
            <a:endParaRPr lang="en-I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charset="0"/>
              <a:buChar char="Ø"/>
            </a:pP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 for a secure and centralized digital solution.</a:t>
            </a:r>
            <a:endParaRPr lang="en-I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 descr="WhatsApp Image 2026-03-23 at 6.14.47 PM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964680" y="2961005"/>
            <a:ext cx="5150485" cy="33667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55040" y="518795"/>
            <a:ext cx="9828530" cy="932180"/>
          </a:xfrm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IN" sz="36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IN" sz="3600" b="1" dirty="0">
              <a:solidFill>
                <a:schemeClr val="accent4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55040" y="2054860"/>
            <a:ext cx="6403975" cy="4433570"/>
          </a:xfrm>
        </p:spPr>
        <p:txBody>
          <a:bodyPr>
            <a:noAutofit/>
          </a:bodyPr>
          <a:lstStyle/>
          <a:p>
            <a:pPr marL="342900" indent="-342900" algn="l">
              <a:buFont typeface="Wingdings" panose="05000000000000000000" charset="0"/>
              <a:buChar char="Ø"/>
            </a:pP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systems lack structured medication tracking mechanisms</a:t>
            </a:r>
            <a:endParaRPr lang="en-I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buFont typeface="Wingdings" panose="05000000000000000000" charset="0"/>
              <a:buChar char="Ø"/>
            </a:pP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Difficulty in maintaining and retrieving prescription records</a:t>
            </a:r>
            <a:endParaRPr lang="en-I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buFont typeface="Wingdings" panose="05000000000000000000" charset="0"/>
              <a:buChar char="Ø"/>
            </a:pP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ability to monitor patient medication adherence</a:t>
            </a:r>
            <a:endParaRPr lang="en-I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buFont typeface="Wingdings" panose="05000000000000000000" charset="0"/>
              <a:buChar char="Ø"/>
            </a:pP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 gaps lead to incorrect dosage and misuse</a:t>
            </a:r>
            <a:endParaRPr lang="en-I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buFont typeface="Wingdings" panose="05000000000000000000" charset="0"/>
              <a:buChar char="Ø"/>
            </a:pP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centralized and secure platform for managing prescriptions</a:t>
            </a:r>
            <a:endParaRPr lang="en-I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1"/>
          <a:srcRect b="3174"/>
          <a:stretch>
            <a:fillRect/>
          </a:stretch>
        </p:blipFill>
        <p:spPr>
          <a:xfrm>
            <a:off x="7515496" y="1451019"/>
            <a:ext cx="4162697" cy="41485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856615"/>
            <a:ext cx="10457180" cy="699135"/>
          </a:xfrm>
        </p:spPr>
        <p:txBody>
          <a:bodyPr/>
          <a:p>
            <a:r>
              <a:rPr lang="en-IN" altLang="en-GB" sz="3600" b="1">
                <a:solidFill>
                  <a:schemeClr val="accent4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PROJECT</a:t>
            </a:r>
            <a:endParaRPr lang="en-IN" altLang="en-GB" sz="3600" b="1">
              <a:solidFill>
                <a:schemeClr val="accent4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p>
            <a:pPr>
              <a:buFont typeface="Wingdings" panose="05000000000000000000" charset="0"/>
              <a:buChar char="Ø"/>
            </a:pPr>
            <a:endParaRPr lang="en-IN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Ø"/>
            </a:pPr>
            <a:r>
              <a:rPr lang="en-IN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To develope a centralized system for managing prescriptions digitally</a:t>
            </a:r>
            <a:endParaRPr lang="en-IN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Ø"/>
            </a:pPr>
            <a:r>
              <a:rPr lang="en-IN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To enable real-time tracking of patient medication adherence</a:t>
            </a:r>
            <a:endParaRPr lang="en-IN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Ø"/>
            </a:pPr>
            <a:r>
              <a:rPr lang="en-IN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To provide automated alerts and notifications for medication schedules</a:t>
            </a:r>
            <a:endParaRPr lang="en-IN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Ø"/>
            </a:pPr>
            <a:r>
              <a:rPr lang="en-IN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To facilitate efficient communication between doctors and patients</a:t>
            </a:r>
            <a:endParaRPr lang="en-IN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Ø"/>
            </a:pPr>
            <a:r>
              <a:rPr lang="en-IN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To ensure secure storage and easy retrieval of medical records</a:t>
            </a:r>
            <a:endParaRPr lang="en-IN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Ø"/>
            </a:pPr>
            <a:r>
              <a:rPr lang="en-IN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To improve accuracy and efficiency in healthcare management</a:t>
            </a:r>
            <a:endParaRPr lang="en-IN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 descr="WhatsApp Image 2026-03-23 at 6.14.52 PM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411210" y="2014855"/>
            <a:ext cx="3780790" cy="45440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07745" y="1043305"/>
            <a:ext cx="9660255" cy="662305"/>
          </a:xfrm>
        </p:spPr>
        <p:txBody>
          <a:bodyPr>
            <a:normAutofit/>
          </a:bodyPr>
          <a:lstStyle/>
          <a:p>
            <a:pPr algn="l"/>
            <a:r>
              <a:rPr lang="en-IN" sz="36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DESCRIPTION</a:t>
            </a:r>
            <a:endParaRPr lang="en-IN" sz="36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2"/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007745" y="2049780"/>
            <a:ext cx="9660890" cy="43789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Ø"/>
            </a:pPr>
            <a:endParaRPr kumimoji="0" lang="en-IN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90000"/>
                  <a:lumOff val="1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Ø"/>
            </a:pPr>
            <a:r>
              <a:rPr kumimoji="0" lang="en-IN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90000"/>
                    <a:lumOff val="1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Prescripto is a digital platform for prescription and medication management</a:t>
            </a:r>
            <a:endParaRPr kumimoji="0" lang="en-IN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90000"/>
                  <a:lumOff val="1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Ø"/>
            </a:pPr>
            <a:r>
              <a:rPr kumimoji="0" lang="en-IN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90000"/>
                    <a:lumOff val="1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Enables doctors to create and manage digital prescriptions</a:t>
            </a:r>
            <a:endParaRPr kumimoji="0" lang="en-IN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90000"/>
                  <a:lumOff val="1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Ø"/>
            </a:pPr>
            <a:r>
              <a:rPr kumimoji="0" lang="en-IN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90000"/>
                    <a:lumOff val="1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Allows patients to track medications and schedules</a:t>
            </a:r>
            <a:endParaRPr kumimoji="0" lang="en-IN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90000"/>
                  <a:lumOff val="1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Ø"/>
            </a:pPr>
            <a:r>
              <a:rPr kumimoji="0" lang="en-IN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90000"/>
                    <a:lumOff val="1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Provides automated reminders for timely intake</a:t>
            </a:r>
            <a:endParaRPr kumimoji="0" lang="en-IN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90000"/>
                  <a:lumOff val="1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Ø"/>
            </a:pPr>
            <a:r>
              <a:rPr kumimoji="0" lang="en-IN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90000"/>
                    <a:lumOff val="1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Ensures secure storage of medical records</a:t>
            </a:r>
            <a:endParaRPr kumimoji="0" lang="en-IN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90000"/>
                  <a:lumOff val="1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Ø"/>
            </a:pPr>
            <a:r>
              <a:rPr kumimoji="0" lang="en-IN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90000"/>
                    <a:lumOff val="1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Accessible via web and mobile platforms</a:t>
            </a:r>
            <a:endParaRPr kumimoji="0" lang="en-IN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90000"/>
                  <a:lumOff val="1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 descr="WhatsApp Image 2026-03-23 at 6.14.55 PM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01255" y="2732405"/>
            <a:ext cx="4319905" cy="3667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6300" y="717550"/>
            <a:ext cx="10198100" cy="1325880"/>
          </a:xfrm>
        </p:spPr>
        <p:txBody>
          <a:bodyPr>
            <a:normAutofit/>
          </a:bodyPr>
          <a:lstStyle/>
          <a:p>
            <a:r>
              <a:rPr lang="en-IN" sz="36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FEATURES:</a:t>
            </a:r>
            <a:endParaRPr lang="en-IN" sz="36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ctangle 17"/>
          <p:cNvSpPr>
            <a:spLocks noChangeArrowheads="1"/>
          </p:cNvSpPr>
          <p:nvPr/>
        </p:nvSpPr>
        <p:spPr bwMode="auto">
          <a:xfrm rot="10800000" flipV="1">
            <a:off x="875665" y="1798320"/>
            <a:ext cx="10457815" cy="30454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no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Ø"/>
            </a:pPr>
            <a:r>
              <a:rPr kumimoji="0" lang="en-I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Digital Prescription Management</a:t>
            </a:r>
            <a:endParaRPr kumimoji="0" lang="en-IN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Ø"/>
            </a:pPr>
            <a:r>
              <a:rPr kumimoji="0" lang="en-I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Medication Tracking</a:t>
            </a:r>
            <a:endParaRPr kumimoji="0" lang="en-IN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Ø"/>
            </a:pPr>
            <a:r>
              <a:rPr kumimoji="0" lang="en-I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Automated Reminders</a:t>
            </a:r>
            <a:endParaRPr kumimoji="0" lang="en-IN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Ø"/>
            </a:pPr>
            <a:r>
              <a:rPr kumimoji="0" lang="en-I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Secure Data Storage</a:t>
            </a:r>
            <a:endParaRPr kumimoji="0" lang="en-IN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Ø"/>
            </a:pPr>
            <a:r>
              <a:rPr kumimoji="0" lang="en-I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Role-Based Access</a:t>
            </a:r>
            <a:endParaRPr kumimoji="0" lang="en-IN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Ø"/>
            </a:pPr>
            <a:r>
              <a:rPr kumimoji="0" lang="en-I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Prescription History</a:t>
            </a:r>
            <a:endParaRPr kumimoji="0" lang="en-IN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Ø"/>
            </a:pPr>
            <a:r>
              <a:rPr kumimoji="0" lang="en-I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Caregiver Support</a:t>
            </a:r>
            <a:endParaRPr kumimoji="0" lang="en-IN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Rectangle 21"/>
          <p:cNvSpPr>
            <a:spLocks noChangeArrowheads="1"/>
          </p:cNvSpPr>
          <p:nvPr/>
        </p:nvSpPr>
        <p:spPr bwMode="auto">
          <a:xfrm>
            <a:off x="0" y="39438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Picture 2" descr="WhatsApp Image 2026-03-23 at 6.14.47 PM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D">
                  <a:alpha val="100000"/>
                </a:srgbClr>
              </a:clrFrom>
              <a:clrTo>
                <a:srgbClr val="FFFFFD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299835" y="3220085"/>
            <a:ext cx="6452235" cy="36379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73834"/>
            <a:ext cx="10515600" cy="1325563"/>
          </a:xfrm>
        </p:spPr>
        <p:txBody>
          <a:bodyPr>
            <a:normAutofit/>
          </a:bodyPr>
          <a:lstStyle/>
          <a:p>
            <a:r>
              <a:rPr lang="en-IN" sz="36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EXISTING SYSTEM VS PROPOSED SYSTEM</a:t>
            </a:r>
            <a:r>
              <a:rPr lang="en-IN" sz="3600" b="1" dirty="0">
                <a:solidFill>
                  <a:schemeClr val="accent1">
                    <a:lumMod val="75000"/>
                  </a:schemeClr>
                </a:solidFill>
              </a:rPr>
              <a:t>:</a:t>
            </a:r>
            <a:endParaRPr lang="en-IN" sz="3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766354" y="3269774"/>
          <a:ext cx="10093235" cy="1584960"/>
        </p:xfrm>
        <a:graphic>
          <a:graphicData uri="http://schemas.openxmlformats.org/drawingml/2006/table">
            <a:tbl>
              <a:tblPr/>
              <a:tblGrid>
                <a:gridCol w="5080864"/>
                <a:gridCol w="5012371"/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000" dirty="0">
                        <a:solidFill>
                          <a:schemeClr val="tx2">
                            <a:lumMod val="90000"/>
                            <a:lumOff val="10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000" dirty="0">
                        <a:solidFill>
                          <a:schemeClr val="tx2">
                            <a:lumMod val="90000"/>
                            <a:lumOff val="10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000" dirty="0">
                        <a:solidFill>
                          <a:schemeClr val="tx2">
                            <a:lumMod val="90000"/>
                            <a:lumOff val="10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000" dirty="0">
                        <a:solidFill>
                          <a:schemeClr val="tx2">
                            <a:lumMod val="90000"/>
                            <a:lumOff val="10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000" dirty="0">
                        <a:solidFill>
                          <a:schemeClr val="tx2">
                            <a:lumMod val="90000"/>
                            <a:lumOff val="10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000" dirty="0">
                        <a:solidFill>
                          <a:schemeClr val="tx2">
                            <a:lumMod val="90000"/>
                            <a:lumOff val="10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000" dirty="0">
                        <a:solidFill>
                          <a:schemeClr val="tx2">
                            <a:lumMod val="90000"/>
                            <a:lumOff val="10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000" dirty="0">
                        <a:solidFill>
                          <a:schemeClr val="tx2">
                            <a:lumMod val="90000"/>
                            <a:lumOff val="10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86703" y="2000250"/>
          <a:ext cx="9553575" cy="36791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76772"/>
                <a:gridCol w="4776772"/>
              </a:tblGrid>
              <a:tr h="6375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Existing System</a:t>
                      </a:r>
                      <a:endParaRPr lang="en-IN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Proposed System (Prescripto)</a:t>
                      </a:r>
                      <a:endParaRPr lang="en-IN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</a:tr>
              <a:tr h="617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Paper-based prescriptions</a:t>
                      </a:r>
                      <a:endParaRPr lang="en-IN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Digital prescription system</a:t>
                      </a:r>
                      <a:endParaRPr lang="en-IN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</a:tr>
              <a:tr h="589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Manual reminders</a:t>
                      </a:r>
                      <a:endParaRPr lang="en-IN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Automated notifications</a:t>
                      </a:r>
                      <a:endParaRPr lang="en-IN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</a:tr>
              <a:tr h="589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Risk of loss or damage</a:t>
                      </a:r>
                      <a:endParaRPr lang="en-IN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Secure cloud storage</a:t>
                      </a:r>
                      <a:endParaRPr lang="en-IN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</a:tr>
              <a:tr h="6565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IN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medication tracking</a:t>
                      </a:r>
                      <a:endParaRPr lang="en-IN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IN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Real-time medication tracking</a:t>
                      </a:r>
                      <a:endParaRPr lang="en-IN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</a:tr>
              <a:tr h="588645">
                <a:tc>
                  <a:txBody>
                    <a:bodyPr/>
                    <a:p>
                      <a:pPr>
                        <a:buNone/>
                      </a:pPr>
                      <a:r>
                        <a:rPr lang="en-IN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Difficult record retrieval</a:t>
                      </a:r>
                      <a:endParaRPr lang="en-IN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IN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Easy access to history</a:t>
                      </a:r>
                      <a:endParaRPr lang="en-IN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857250"/>
            <a:ext cx="10515600" cy="833755"/>
          </a:xfrm>
        </p:spPr>
        <p:txBody>
          <a:bodyPr/>
          <a:p>
            <a:r>
              <a:rPr lang="en-IN" altLang="en-GB" sz="3600" b="1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SCOPE OF PROJECT</a:t>
            </a:r>
            <a:endParaRPr lang="en-IN" altLang="en-GB" sz="3600" b="1">
              <a:solidFill>
                <a:schemeClr val="accent4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p>
            <a:pPr>
              <a:buFont typeface="Wingdings" panose="05000000000000000000" charset="0"/>
              <a:buChar char="Ø"/>
            </a:pPr>
            <a:endParaRPr lang="en-IN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Ø"/>
            </a:pPr>
            <a:r>
              <a:rPr lang="en-IN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of role-based access (Doctor, Patient, Caregiver)</a:t>
            </a:r>
            <a:endParaRPr lang="en-IN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Ø"/>
            </a:pPr>
            <a:r>
              <a:rPr lang="en-IN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Digital prescription creation, update and storage</a:t>
            </a:r>
            <a:endParaRPr lang="en-IN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Ø"/>
            </a:pPr>
            <a:r>
              <a:rPr lang="en-IN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Patient dashboard for medication tracking</a:t>
            </a:r>
            <a:endParaRPr lang="en-IN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Ø"/>
            </a:pPr>
            <a:r>
              <a:rPr lang="en-IN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Integration of reminder notification system</a:t>
            </a:r>
            <a:endParaRPr lang="en-IN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Ø"/>
            </a:pPr>
            <a:r>
              <a:rPr lang="en-IN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Secure database management with encryption</a:t>
            </a:r>
            <a:endParaRPr lang="en-IN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Ø"/>
            </a:pPr>
            <a:r>
              <a:rPr lang="en-IN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Basic analytics for prescriptions and usage date</a:t>
            </a:r>
            <a:endParaRPr lang="en-IN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 descr="WhatsApp Image 2026-03-23 at 6.14.51 PM"/>
          <p:cNvPicPr>
            <a:picLocks noChangeAspect="1"/>
          </p:cNvPicPr>
          <p:nvPr/>
        </p:nvPicPr>
        <p:blipFill>
          <a:blip r:embed="rId1">
            <a:clrChange>
              <a:clrFrom>
                <a:srgbClr val="EBF5FF">
                  <a:alpha val="100000"/>
                </a:srgbClr>
              </a:clrFrom>
              <a:clrTo>
                <a:srgbClr val="EBF5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691630" y="2729230"/>
            <a:ext cx="5030470" cy="36766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36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  <a:r>
              <a:rPr lang="en-IN" sz="36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IN" sz="36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rcRect t="10989"/>
          <a:stretch>
            <a:fillRect/>
          </a:stretch>
        </p:blipFill>
        <p:spPr>
          <a:xfrm>
            <a:off x="952500" y="1506584"/>
            <a:ext cx="9471660" cy="498629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9970" y="1014730"/>
            <a:ext cx="10515600" cy="775970"/>
          </a:xfrm>
        </p:spPr>
        <p:txBody>
          <a:bodyPr>
            <a:normAutofit/>
          </a:bodyPr>
          <a:lstStyle/>
          <a:p>
            <a:r>
              <a:rPr lang="en-IN" sz="36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 STACK USED:</a:t>
            </a:r>
            <a:endParaRPr lang="en-IN" sz="36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1029970" y="2073910"/>
            <a:ext cx="5372100" cy="21990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no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Ø"/>
            </a:pPr>
            <a:r>
              <a:rPr kumimoji="0" lang="en-US" altLang="en-GB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Frontend: HTML, CSS, JavaScript / React </a:t>
            </a:r>
            <a:endParaRPr kumimoji="0" lang="en-US" altLang="en-GB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Ø"/>
            </a:pPr>
            <a:r>
              <a:rPr kumimoji="0" lang="en-US" altLang="en-GB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Backend: Java 17</a:t>
            </a:r>
            <a:r>
              <a:rPr kumimoji="0" lang="en-IN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GB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SpringBoot</a:t>
            </a:r>
            <a:endParaRPr kumimoji="0" lang="en-US" altLang="en-GB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Ø"/>
            </a:pPr>
            <a:r>
              <a:rPr kumimoji="0" lang="en-US" altLang="en-GB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Database: MySQL</a:t>
            </a:r>
            <a:endParaRPr kumimoji="0" lang="en-US" altLang="en-GB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Ø"/>
            </a:pPr>
            <a:r>
              <a:rPr kumimoji="0" lang="en-US" altLang="en-GB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AI/Analytics: Python, Machine Learning models</a:t>
            </a:r>
            <a:endParaRPr kumimoji="0" lang="en-US" altLang="en-GB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Ø"/>
            </a:pPr>
            <a:r>
              <a:rPr kumimoji="0" lang="en-US" altLang="en-GB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Authentication: JWT Authentication</a:t>
            </a:r>
            <a:endParaRPr kumimoji="0" lang="en-US" altLang="en-GB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 descr="WhatsApp Image 2026-03-23 at 6.14.48 PM (1)"/>
          <p:cNvPicPr>
            <a:picLocks noChangeAspect="1"/>
          </p:cNvPicPr>
          <p:nvPr/>
        </p:nvPicPr>
        <p:blipFill>
          <a:blip r:embed="rId1">
            <a:alphaModFix amt="40000"/>
            <a:clrChange>
              <a:clrFrom>
                <a:srgbClr val="FEFEFE">
                  <a:alpha val="100000"/>
                </a:srgbClr>
              </a:clrFrom>
              <a:clrTo>
                <a:srgbClr val="FEFEFE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809355" y="5680710"/>
            <a:ext cx="3060065" cy="929005"/>
          </a:xfrm>
          <a:prstGeom prst="rect">
            <a:avLst/>
          </a:prstGeom>
        </p:spPr>
      </p:pic>
      <p:pic>
        <p:nvPicPr>
          <p:cNvPr id="5" name="Picture 4" descr="WhatsApp Image 2026-03-23 at 6.14.48 PM"/>
          <p:cNvPicPr>
            <a:picLocks noChangeAspect="1"/>
          </p:cNvPicPr>
          <p:nvPr/>
        </p:nvPicPr>
        <p:blipFill>
          <a:blip r:embed="rId2">
            <a:alphaModFix amt="40000"/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621520" y="3432810"/>
            <a:ext cx="2247900" cy="2247900"/>
          </a:xfrm>
          <a:prstGeom prst="rect">
            <a:avLst/>
          </a:prstGeom>
        </p:spPr>
      </p:pic>
      <p:pic>
        <p:nvPicPr>
          <p:cNvPr id="6" name="Picture 5" descr="WhatsApp Image 2026-03-23 at 6.14.49 PM"/>
          <p:cNvPicPr>
            <a:picLocks noChangeAspect="1"/>
          </p:cNvPicPr>
          <p:nvPr/>
        </p:nvPicPr>
        <p:blipFill>
          <a:blip r:embed="rId3">
            <a:alphaModFix amt="40000"/>
            <a:clrChange>
              <a:clrFrom>
                <a:srgbClr val="000000">
                  <a:alpha val="100000"/>
                </a:srgbClr>
              </a:clrFrom>
              <a:clrTo>
                <a:srgbClr val="000000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264650" y="2255520"/>
            <a:ext cx="2762885" cy="1718945"/>
          </a:xfrm>
          <a:prstGeom prst="rect">
            <a:avLst/>
          </a:prstGeom>
        </p:spPr>
      </p:pic>
      <p:pic>
        <p:nvPicPr>
          <p:cNvPr id="7" name="Picture 6" descr="WhatsApp Image 2026-03-23 at 6.14.50 PM"/>
          <p:cNvPicPr>
            <a:picLocks noChangeAspect="1"/>
          </p:cNvPicPr>
          <p:nvPr/>
        </p:nvPicPr>
        <p:blipFill>
          <a:blip r:embed="rId4">
            <a:alphaModFix amt="5000"/>
            <a:clrChange>
              <a:clrFrom>
                <a:srgbClr val="EDEDED">
                  <a:alpha val="100000"/>
                </a:srgbClr>
              </a:clrFrom>
              <a:clrTo>
                <a:srgbClr val="EDEDED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694805" y="4503420"/>
            <a:ext cx="2114550" cy="2354580"/>
          </a:xfrm>
          <a:prstGeom prst="rect">
            <a:avLst/>
          </a:prstGeom>
        </p:spPr>
      </p:pic>
      <p:pic>
        <p:nvPicPr>
          <p:cNvPr id="10" name="Picture 9" descr="WhatsApp Image 2026-03-23 at 6.14.53 PM"/>
          <p:cNvPicPr>
            <a:picLocks noChangeAspect="1"/>
          </p:cNvPicPr>
          <p:nvPr/>
        </p:nvPicPr>
        <p:blipFill>
          <a:blip r:embed="rId5">
            <a:alphaModFix amt="40000"/>
            <a:clrChange>
              <a:clrFrom>
                <a:srgbClr val="000000">
                  <a:alpha val="100000"/>
                </a:srgbClr>
              </a:clrFrom>
              <a:clrTo>
                <a:srgbClr val="000000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468485" y="220980"/>
            <a:ext cx="2723515" cy="218059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847090"/>
            <a:ext cx="10515600" cy="843915"/>
          </a:xfrm>
        </p:spPr>
        <p:txBody>
          <a:bodyPr/>
          <a:p>
            <a:r>
              <a:rPr lang="en-IN" altLang="en-GB" sz="3600" b="1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TARGET USERS</a:t>
            </a:r>
            <a:endParaRPr lang="en-IN" altLang="en-GB" sz="3600" b="1">
              <a:solidFill>
                <a:schemeClr val="accent4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0000" lnSpcReduction="20000"/>
          </a:bodyPr>
          <a:p>
            <a:pPr marL="0" indent="0">
              <a:buNone/>
            </a:pPr>
            <a:r>
              <a:rPr lang="en-US" altLang="en-GB" sz="2000">
                <a:latin typeface="Times New Roman" panose="02020603050405020304" pitchFamily="18" charset="0"/>
                <a:cs typeface="Times New Roman" panose="02020603050405020304" pitchFamily="18" charset="0"/>
              </a:rPr>
              <a:t>Doctors </a:t>
            </a:r>
            <a:endParaRPr lang="en-US" altLang="en-GB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Ø"/>
            </a:pPr>
            <a:r>
              <a:rPr lang="en-US" altLang="en-GB" sz="2000">
                <a:latin typeface="Times New Roman" panose="02020603050405020304" pitchFamily="18" charset="0"/>
                <a:cs typeface="Times New Roman" panose="02020603050405020304" pitchFamily="18" charset="0"/>
              </a:rPr>
              <a:t>Create and manage </a:t>
            </a:r>
            <a:r>
              <a:rPr lang="en-IN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digital </a:t>
            </a:r>
            <a:r>
              <a:rPr lang="en-US" altLang="en-GB" sz="2000">
                <a:latin typeface="Times New Roman" panose="02020603050405020304" pitchFamily="18" charset="0"/>
                <a:cs typeface="Times New Roman" panose="02020603050405020304" pitchFamily="18" charset="0"/>
              </a:rPr>
              <a:t>prescriptions</a:t>
            </a:r>
            <a:endParaRPr lang="en-US" altLang="en-GB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Ø"/>
            </a:pPr>
            <a:r>
              <a:rPr lang="en-IN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Monotor patient treatment</a:t>
            </a:r>
            <a:endParaRPr lang="en-US" altLang="en-GB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altLang="en-GB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en-GB" sz="2000">
                <a:latin typeface="Times New Roman" panose="02020603050405020304" pitchFamily="18" charset="0"/>
                <a:cs typeface="Times New Roman" panose="02020603050405020304" pitchFamily="18" charset="0"/>
              </a:rPr>
              <a:t>Patients </a:t>
            </a:r>
            <a:endParaRPr lang="en-US" altLang="en-GB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Ø"/>
            </a:pPr>
            <a:r>
              <a:rPr lang="en-IN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en-GB" sz="2000">
                <a:latin typeface="Times New Roman" panose="02020603050405020304" pitchFamily="18" charset="0"/>
                <a:cs typeface="Times New Roman" panose="02020603050405020304" pitchFamily="18" charset="0"/>
              </a:rPr>
              <a:t>rack medications</a:t>
            </a:r>
            <a:r>
              <a:rPr lang="en-IN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and schedules</a:t>
            </a:r>
            <a:endParaRPr lang="en-IN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Ø"/>
            </a:pPr>
            <a:r>
              <a:rPr lang="en-IN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Recieve reminders</a:t>
            </a:r>
            <a:endParaRPr lang="en-IN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Ø"/>
            </a:pPr>
            <a:r>
              <a:rPr lang="en-IN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View prescription history</a:t>
            </a:r>
            <a:endParaRPr lang="en-US" altLang="en-GB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altLang="en-GB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en-GB" sz="2000">
                <a:latin typeface="Times New Roman" panose="02020603050405020304" pitchFamily="18" charset="0"/>
                <a:cs typeface="Times New Roman" panose="02020603050405020304" pitchFamily="18" charset="0"/>
              </a:rPr>
              <a:t>Caregivers </a:t>
            </a:r>
            <a:endParaRPr lang="en-US" altLang="en-GB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Ø"/>
            </a:pPr>
            <a:r>
              <a:rPr lang="en-US" altLang="en-GB" sz="2000">
                <a:latin typeface="Times New Roman" panose="02020603050405020304" pitchFamily="18" charset="0"/>
                <a:cs typeface="Times New Roman" panose="02020603050405020304" pitchFamily="18" charset="0"/>
              </a:rPr>
              <a:t>Assist patients in medication management </a:t>
            </a:r>
            <a:endParaRPr lang="en-US" altLang="en-GB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Ø"/>
            </a:pPr>
            <a:r>
              <a:rPr lang="en-IN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Monitor medication schedules and adherence</a:t>
            </a:r>
            <a:endParaRPr lang="en-IN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Ø"/>
            </a:pPr>
            <a:r>
              <a:rPr lang="en-IN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Receive alerts for patient reminders</a:t>
            </a:r>
            <a:endParaRPr lang="en-US" altLang="en-GB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altLang="en-GB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 descr="WhatsApp Image 2026-03-23 at 6.14.47 PM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009640" y="2043430"/>
            <a:ext cx="5720080" cy="41338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2155" y="1081405"/>
            <a:ext cx="10515600" cy="680720"/>
          </a:xfrm>
        </p:spPr>
        <p:txBody>
          <a:bodyPr/>
          <a:lstStyle/>
          <a:p>
            <a:r>
              <a:rPr lang="en-IN" sz="3600" b="1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AND RESULT</a:t>
            </a:r>
            <a:endParaRPr lang="en-IN" sz="3600" b="1" dirty="0">
              <a:solidFill>
                <a:schemeClr val="accent4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7330" y="2096770"/>
            <a:ext cx="4117340" cy="311848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1665" y="2068830"/>
            <a:ext cx="3803650" cy="3146425"/>
          </a:xfrm>
          <a:prstGeom prst="rect">
            <a:avLst/>
          </a:prstGeom>
        </p:spPr>
      </p:pic>
      <p:pic>
        <p:nvPicPr>
          <p:cNvPr id="13" name="Content Placeholder 12"/>
          <p:cNvPicPr>
            <a:picLocks noGrp="1"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5" y="2096770"/>
            <a:ext cx="3847465" cy="31191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1555" y="1049020"/>
            <a:ext cx="10342245" cy="641985"/>
          </a:xfrm>
        </p:spPr>
        <p:txBody>
          <a:bodyPr>
            <a:normAutofit/>
          </a:bodyPr>
          <a:lstStyle/>
          <a:p>
            <a:r>
              <a:rPr lang="en-IN" sz="36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ADVANTAGES:</a:t>
            </a:r>
            <a:endParaRPr lang="en-IN" sz="36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charset="0"/>
              <a:buChar char="ü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medication errors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ü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Improves patient medication adherence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ü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easy access to prescription history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ü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Ensure secure and centralized data storage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ü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saves time and effort 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ü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Enhances communication between users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ü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caregivers for better patient management 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 descr="WhatsApp Image 2026-03-23 at 6.14.56 PM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233920" y="2270125"/>
            <a:ext cx="4572000" cy="3907155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6155055" y="141732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en-GB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IN" sz="36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  <a:endParaRPr lang="en-IN" sz="36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charset="0"/>
              <a:buChar char="Ø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Integration with mobile application for better accessibility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Ø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of AI for smart prescription analysis and suggestions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Ø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Integration with pharmacy systems for direct medicine ordering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Ø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for wearable devices for health monitoring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Ø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analytics and reporting features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Ø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of multi-language support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charset="0"/>
              <a:buChar char="Ø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Cloud-based scaling for large user base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 descr="WhatsApp Image 2026-03-23 at 6.14.55 PM (1)"/>
          <p:cNvPicPr>
            <a:picLocks noChangeAspect="1"/>
          </p:cNvPicPr>
          <p:nvPr/>
        </p:nvPicPr>
        <p:blipFill>
          <a:blip r:embed="rId1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929880" y="771525"/>
            <a:ext cx="4110355" cy="529526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5660" y="1356995"/>
            <a:ext cx="10332720" cy="804545"/>
          </a:xfrm>
        </p:spPr>
        <p:txBody>
          <a:bodyPr>
            <a:normAutofit/>
          </a:bodyPr>
          <a:lstStyle/>
          <a:p>
            <a:r>
              <a:rPr lang="en-IN" sz="36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CONCLUSION:</a:t>
            </a:r>
            <a:endParaRPr lang="en-IN" sz="36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35660" y="2055495"/>
            <a:ext cx="10244455" cy="33451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no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Ø"/>
            </a:pPr>
            <a:r>
              <a:rPr kumimoji="0" lang="en-IN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Presripto provides a secure and efficient digital solution for prescription management </a:t>
            </a:r>
            <a:endParaRPr kumimoji="0" lang="en-IN" alt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Ø"/>
            </a:pPr>
            <a:r>
              <a:rPr kumimoji="0" lang="en-IN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Reduces medication errors and improves patient safety</a:t>
            </a:r>
            <a:endParaRPr kumimoji="0" lang="en-IN" alt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Ø"/>
            </a:pPr>
            <a:r>
              <a:rPr kumimoji="0" lang="en-IN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Enables real-time medication tracking and improves patients safety</a:t>
            </a:r>
            <a:endParaRPr kumimoji="0" lang="en-IN" alt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Ø"/>
            </a:pPr>
            <a:r>
              <a:rPr kumimoji="0" lang="en-IN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Enhances communication between doctors, patients and caregivers</a:t>
            </a:r>
            <a:endParaRPr kumimoji="0" lang="en-IN" alt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Ø"/>
            </a:pPr>
            <a:r>
              <a:rPr kumimoji="0" lang="en-IN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Ensures safe storage and easy access to medical records</a:t>
            </a:r>
            <a:endParaRPr kumimoji="0" lang="en-IN" alt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Ø"/>
            </a:pPr>
            <a:r>
              <a:rPr kumimoji="0" lang="en-IN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Contributes to improved healthcare efficiency and outcomes</a:t>
            </a:r>
            <a:endParaRPr kumimoji="0" lang="en-IN" alt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 descr="WhatsApp Image 2026-03-23 at 6.14.54 PM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41360" y="3242945"/>
            <a:ext cx="3197860" cy="3342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1619795"/>
            <a:ext cx="10515600" cy="3422468"/>
          </a:xfrm>
        </p:spPr>
        <p:txBody>
          <a:bodyPr/>
          <a:lstStyle/>
          <a:p>
            <a:pPr algn="ctr"/>
            <a:r>
              <a:rPr lang="en-IN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YOU!!</a:t>
            </a:r>
            <a:endParaRPr lang="en-IN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614*156"/>
  <p:tag name="TABLE_ENDDRAG_RECT" val="113*252*614*156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3837</Words>
  <Application>WPS Presentation</Application>
  <PresentationFormat>Widescreen</PresentationFormat>
  <Paragraphs>168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30" baseType="lpstr">
      <vt:lpstr>Arial</vt:lpstr>
      <vt:lpstr>SimSun</vt:lpstr>
      <vt:lpstr>Wingdings</vt:lpstr>
      <vt:lpstr>Times New Roman</vt:lpstr>
      <vt:lpstr>Wingdings</vt:lpstr>
      <vt:lpstr>Aptos Display</vt:lpstr>
      <vt:lpstr>Segoe UI Variable Display</vt:lpstr>
      <vt:lpstr>Microsoft YaHei</vt:lpstr>
      <vt:lpstr>Arial Unicode MS</vt:lpstr>
      <vt:lpstr>Aptos</vt:lpstr>
      <vt:lpstr>Segoe UI</vt:lpstr>
      <vt:lpstr>Calibri</vt:lpstr>
      <vt:lpstr>Office Theme</vt:lpstr>
      <vt:lpstr>Prescripto - Online Medication and Prescription Tracker</vt:lpstr>
      <vt:lpstr>TEAM MEMBERS</vt:lpstr>
      <vt:lpstr>INTRODUCTION</vt:lpstr>
      <vt:lpstr>PROBLEM STATEMENT</vt:lpstr>
      <vt:lpstr>OBJECTIVES OF PROJECT</vt:lpstr>
      <vt:lpstr>PROJECT DESCRIPTION</vt:lpstr>
      <vt:lpstr>KEY FEATURES:</vt:lpstr>
      <vt:lpstr>EXISTING SYSTEM VS PROPOSED SYSTEM:</vt:lpstr>
      <vt:lpstr>SCOPE OF PROJECT</vt:lpstr>
      <vt:lpstr>SYSTEM ARCHITECTURE:</vt:lpstr>
      <vt:lpstr>TECH STACK USED:</vt:lpstr>
      <vt:lpstr>TARGET USERS</vt:lpstr>
      <vt:lpstr>IMPLEMENTATION AND RESULT</vt:lpstr>
      <vt:lpstr>ADVANTAGES:</vt:lpstr>
      <vt:lpstr>FUTURE SCOPE</vt:lpstr>
      <vt:lpstr>CONCLUSION:</vt:lpstr>
      <vt:lpstr>THANK YOU!!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Shreya Badri</dc:creator>
  <cp:lastModifiedBy>Akshata Kapare</cp:lastModifiedBy>
  <cp:revision>18</cp:revision>
  <dcterms:created xsi:type="dcterms:W3CDTF">2026-03-17T09:33:00Z</dcterms:created>
  <dcterms:modified xsi:type="dcterms:W3CDTF">2026-03-23T13:06:04Z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00949F4276DA4EBC8238894D6E1A1E65_12</vt:lpwstr>
  </property>
  <property fmtid="{D5CDD505-2E9C-101B-9397-08002B2CF9AE}" pid="3" name="KSOProductBuildVer">
    <vt:lpwstr>2057-12.2.0.23197</vt:lpwstr>
  </property>
</Properties>
</file>